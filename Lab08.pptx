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5" r:id="rId10"/>
    <p:sldId id="264" r:id="rId11"/>
    <p:sldId id="266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960" units="cm"/>
          <inkml:channel name="T" type="integer" max="2.14748E9" units="dev"/>
        </inkml:traceFormat>
        <inkml:channelProperties>
          <inkml:channelProperty channel="X" name="resolution" value="37.2093" units="1/cm"/>
          <inkml:channelProperty channel="Y" name="resolution" value="49.74093" units="1/cm"/>
          <inkml:channelProperty channel="T" name="resolution" value="1" units="1/dev"/>
        </inkml:channelProperties>
      </inkml:inkSource>
      <inkml:timestamp xml:id="ts0" timeString="2020-04-06T16:54:39.04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14022 17059 0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3F24-B96B-4D40-BB22-1CCA7AE7FC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B3D9-18B4-484B-8B21-D6B7E4671EF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663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3F24-B96B-4D40-BB22-1CCA7AE7FC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B3D9-18B4-484B-8B21-D6B7E4671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6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3F24-B96B-4D40-BB22-1CCA7AE7FC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B3D9-18B4-484B-8B21-D6B7E4671EF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941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3F24-B96B-4D40-BB22-1CCA7AE7FC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B3D9-18B4-484B-8B21-D6B7E4671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56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3F24-B96B-4D40-BB22-1CCA7AE7FC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B3D9-18B4-484B-8B21-D6B7E4671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52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3F24-B96B-4D40-BB22-1CCA7AE7FC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B3D9-18B4-484B-8B21-D6B7E4671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693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3F24-B96B-4D40-BB22-1CCA7AE7FC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B3D9-18B4-484B-8B21-D6B7E4671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93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A913F24-B96B-4D40-BB22-1CCA7AE7FC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4BBB3D9-18B4-484B-8B21-D6B7E4671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58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3F24-B96B-4D40-BB22-1CCA7AE7FC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B3D9-18B4-484B-8B21-D6B7E4671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1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3F24-B96B-4D40-BB22-1CCA7AE7FC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B3D9-18B4-484B-8B21-D6B7E4671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519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3F24-B96B-4D40-BB22-1CCA7AE7FC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B3D9-18B4-484B-8B21-D6B7E4671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404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3F24-B96B-4D40-BB22-1CCA7AE7FC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B3D9-18B4-484B-8B21-D6B7E4671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66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A913F24-B96B-4D40-BB22-1CCA7AE7FC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4BBB3D9-18B4-484B-8B21-D6B7E4671EF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585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2A82B-35A6-4DB3-92B3-C29E56FED2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Lab 8</a:t>
            </a:r>
            <a:br>
              <a:rPr lang="en-US" b="1" dirty="0"/>
            </a:br>
            <a:r>
              <a:rPr lang="en-US" sz="3600" b="1" dirty="0">
                <a:solidFill>
                  <a:schemeClr val="tx2"/>
                </a:solidFill>
              </a:rPr>
              <a:t>Pipelined Implementation of RISC-V </a:t>
            </a:r>
            <a:br>
              <a:rPr lang="en-US" sz="4400" b="1" dirty="0">
                <a:solidFill>
                  <a:schemeClr val="tx2"/>
                </a:solidFill>
              </a:rPr>
            </a:br>
            <a:r>
              <a:rPr lang="en-US" sz="3600" b="1" dirty="0">
                <a:solidFill>
                  <a:schemeClr val="tx2"/>
                </a:solidFill>
              </a:rPr>
              <a:t>Hazard Handling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2905FA-7416-4244-8DEB-AC129D3340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Prepared by: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Mostafa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GHouneem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74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0684C-3C45-4EB6-A10D-722514DDC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A9467-EBEA-4F1E-BB3A-29129E37791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2400" b="1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The objective of this lab is to complete the implementation of the RISC-V pipelined </a:t>
            </a:r>
            <a:r>
              <a:rPr lang="en-US" sz="2400" b="1" dirty="0" err="1">
                <a:solidFill>
                  <a:schemeClr val="tx2"/>
                </a:solidFill>
              </a:rPr>
              <a:t>datapath</a:t>
            </a:r>
            <a:r>
              <a:rPr lang="en-US" sz="2400" b="1" dirty="0">
                <a:solidFill>
                  <a:schemeClr val="tx2"/>
                </a:solidFill>
              </a:rPr>
              <a:t> including data and control hazards handling mechanisms</a:t>
            </a:r>
          </a:p>
        </p:txBody>
      </p:sp>
    </p:spTree>
    <p:extLst>
      <p:ext uri="{BB962C8B-B14F-4D97-AF65-F5344CB8AC3E}">
        <p14:creationId xmlns:p14="http://schemas.microsoft.com/office/powerpoint/2010/main" val="2140011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B6AD4-145D-4336-812C-0FD160086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Agenda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1D72D-7A24-43F9-9831-31993A6F366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An introduction </a:t>
            </a:r>
          </a:p>
          <a:p>
            <a:r>
              <a:rPr lang="en-US" b="1" dirty="0">
                <a:solidFill>
                  <a:schemeClr val="tx2"/>
                </a:solidFill>
              </a:rPr>
              <a:t>Experiment 1: forwarding unit</a:t>
            </a:r>
          </a:p>
          <a:p>
            <a:r>
              <a:rPr lang="en-US" b="1" dirty="0">
                <a:solidFill>
                  <a:schemeClr val="tx2"/>
                </a:solidFill>
              </a:rPr>
              <a:t>Experiment 2: hazard detection unit</a:t>
            </a:r>
          </a:p>
          <a:p>
            <a:r>
              <a:rPr lang="en-US" b="1" dirty="0">
                <a:solidFill>
                  <a:schemeClr val="tx2"/>
                </a:solidFill>
              </a:rPr>
              <a:t>Experiment 3: instructions flushing </a:t>
            </a:r>
          </a:p>
          <a:p>
            <a:r>
              <a:rPr lang="en-US" b="1" dirty="0">
                <a:solidFill>
                  <a:schemeClr val="tx2"/>
                </a:solidFill>
              </a:rPr>
              <a:t>Report Requirements</a:t>
            </a:r>
          </a:p>
          <a:p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662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A759F-FF2A-45D4-9E04-26E6AED57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2324C-C724-4DA3-9A3D-2CAA534909A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 cap="none" dirty="0">
                <a:solidFill>
                  <a:schemeClr val="tx2"/>
                </a:solidFill>
              </a:rPr>
              <a:t>In the previous labs, you should have					                               completed the Verilog modeling and 				             	                 simulation of the single cycle RISC-V 	</a:t>
            </a:r>
            <a:r>
              <a:rPr lang="en-US" b="1" dirty="0">
                <a:solidFill>
                  <a:schemeClr val="tx2"/>
                </a:solidFill>
              </a:rPr>
              <a:t>				          processor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8DA23E-C5B2-4BEF-BD95-383CFA82F4F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496848" y="1832702"/>
            <a:ext cx="6279515" cy="47462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FCDD0AC-72BB-467A-814C-104AF0F94852}"/>
                  </a:ext>
                </a:extLst>
              </p14:cNvPr>
              <p14:cNvContentPartPr/>
              <p14:nvPr/>
            </p14:nvContentPartPr>
            <p14:xfrm>
              <a:off x="5047920" y="614124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FCDD0AC-72BB-467A-814C-104AF0F9485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32080" y="6077880"/>
                <a:ext cx="31680" cy="12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6683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F8A7C-935F-4F15-8B71-09CA07FD7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Experiment 1: forwarding unit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76248-7ABF-4858-BABC-FE815D29E85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US" sz="1800" b="1" cap="none" dirty="0">
                <a:solidFill>
                  <a:schemeClr val="tx2"/>
                </a:solidFill>
              </a:rPr>
              <a:t>Accordingly the forwarding unit has two outputs: </a:t>
            </a:r>
          </a:p>
          <a:p>
            <a:pPr lvl="1"/>
            <a:r>
              <a:rPr lang="en-US" b="1" cap="none" dirty="0" err="1">
                <a:solidFill>
                  <a:schemeClr val="tx2"/>
                </a:solidFill>
              </a:rPr>
              <a:t>forwardA</a:t>
            </a:r>
            <a:r>
              <a:rPr lang="en-US" b="1" cap="none" dirty="0">
                <a:solidFill>
                  <a:schemeClr val="tx2"/>
                </a:solidFill>
              </a:rPr>
              <a:t> </a:t>
            </a:r>
          </a:p>
          <a:p>
            <a:pPr lvl="1"/>
            <a:r>
              <a:rPr lang="en-US" b="1" cap="none" dirty="0" err="1">
                <a:solidFill>
                  <a:schemeClr val="tx2"/>
                </a:solidFill>
              </a:rPr>
              <a:t>forwardB</a:t>
            </a:r>
            <a:r>
              <a:rPr lang="en-US" b="1" cap="none" dirty="0">
                <a:solidFill>
                  <a:schemeClr val="tx2"/>
                </a:solidFill>
              </a:rPr>
              <a:t> </a:t>
            </a:r>
          </a:p>
          <a:p>
            <a:r>
              <a:rPr lang="en-US" sz="1800" b="1" cap="none" dirty="0">
                <a:solidFill>
                  <a:schemeClr val="tx2"/>
                </a:solidFill>
              </a:rPr>
              <a:t>6 inputs: </a:t>
            </a:r>
          </a:p>
          <a:p>
            <a:pPr lvl="1"/>
            <a:r>
              <a:rPr lang="en-US" b="1" cap="none" dirty="0">
                <a:solidFill>
                  <a:schemeClr val="tx2"/>
                </a:solidFill>
              </a:rPr>
              <a:t>ID/EX.RegisterRs1</a:t>
            </a:r>
          </a:p>
          <a:p>
            <a:pPr lvl="1"/>
            <a:r>
              <a:rPr lang="en-US" b="1" cap="none" dirty="0">
                <a:solidFill>
                  <a:schemeClr val="tx2"/>
                </a:solidFill>
              </a:rPr>
              <a:t>ID/EX.RegisterRs2</a:t>
            </a:r>
          </a:p>
          <a:p>
            <a:pPr lvl="1"/>
            <a:r>
              <a:rPr lang="en-US" b="1" cap="none" dirty="0">
                <a:solidFill>
                  <a:schemeClr val="tx2"/>
                </a:solidFill>
              </a:rPr>
              <a:t>EX/</a:t>
            </a:r>
            <a:r>
              <a:rPr lang="en-US" b="1" cap="none" dirty="0" err="1">
                <a:solidFill>
                  <a:schemeClr val="tx2"/>
                </a:solidFill>
              </a:rPr>
              <a:t>MEM.RegisterRd</a:t>
            </a:r>
            <a:endParaRPr lang="en-US" b="1" cap="none" dirty="0">
              <a:solidFill>
                <a:schemeClr val="tx2"/>
              </a:solidFill>
            </a:endParaRPr>
          </a:p>
          <a:p>
            <a:pPr lvl="1"/>
            <a:r>
              <a:rPr lang="en-US" b="1" cap="none" dirty="0">
                <a:solidFill>
                  <a:schemeClr val="tx2"/>
                </a:solidFill>
              </a:rPr>
              <a:t>MEM/</a:t>
            </a:r>
            <a:r>
              <a:rPr lang="en-US" b="1" cap="none" dirty="0" err="1">
                <a:solidFill>
                  <a:schemeClr val="tx2"/>
                </a:solidFill>
              </a:rPr>
              <a:t>WB.RegisterRd</a:t>
            </a:r>
            <a:endParaRPr lang="en-US" b="1" cap="none" dirty="0">
              <a:solidFill>
                <a:schemeClr val="tx2"/>
              </a:solidFill>
            </a:endParaRPr>
          </a:p>
          <a:p>
            <a:pPr lvl="1"/>
            <a:r>
              <a:rPr lang="en-US" b="1" cap="none" dirty="0">
                <a:solidFill>
                  <a:schemeClr val="tx2"/>
                </a:solidFill>
              </a:rPr>
              <a:t>EX/</a:t>
            </a:r>
            <a:r>
              <a:rPr lang="en-US" b="1" cap="none" dirty="0" err="1">
                <a:solidFill>
                  <a:schemeClr val="tx2"/>
                </a:solidFill>
              </a:rPr>
              <a:t>MEM.RegWrite</a:t>
            </a:r>
            <a:r>
              <a:rPr lang="en-US" b="1" cap="none" dirty="0">
                <a:solidFill>
                  <a:schemeClr val="tx2"/>
                </a:solidFill>
              </a:rPr>
              <a:t>, </a:t>
            </a:r>
          </a:p>
          <a:p>
            <a:pPr lvl="1"/>
            <a:r>
              <a:rPr lang="en-US" b="1" cap="none" dirty="0">
                <a:solidFill>
                  <a:schemeClr val="tx2"/>
                </a:solidFill>
              </a:rPr>
              <a:t>MEM/</a:t>
            </a:r>
            <a:r>
              <a:rPr lang="en-US" b="1" cap="none" dirty="0" err="1">
                <a:solidFill>
                  <a:schemeClr val="tx2"/>
                </a:solidFill>
              </a:rPr>
              <a:t>WB.RegWrite</a:t>
            </a:r>
            <a:r>
              <a:rPr lang="en-US" b="1" cap="none" dirty="0">
                <a:solidFill>
                  <a:schemeClr val="tx2"/>
                </a:solidFill>
              </a:rPr>
              <a:t>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970623-2FCA-49CA-8C1C-B81085F71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787" y="2214694"/>
            <a:ext cx="6170468" cy="426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028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F8A7C-935F-4F15-8B71-09CA07FD7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Experiment 1: forwarding unit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76248-7ABF-4858-BABC-FE815D29E85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cap="none" dirty="0">
                <a:solidFill>
                  <a:schemeClr val="tx2"/>
                </a:solidFill>
              </a:rPr>
              <a:t>The forwarding unit is responsible for </a:t>
            </a:r>
            <a:r>
              <a:rPr lang="en-US" b="1" cap="none" dirty="0">
                <a:solidFill>
                  <a:srgbClr val="FF0000"/>
                </a:solidFill>
              </a:rPr>
              <a:t>forwarding</a:t>
            </a:r>
            <a:r>
              <a:rPr lang="en-US" b="1" cap="none" dirty="0">
                <a:solidFill>
                  <a:schemeClr val="tx2"/>
                </a:solidFill>
              </a:rPr>
              <a:t> operands to the </a:t>
            </a:r>
            <a:r>
              <a:rPr lang="en-US" b="1" cap="none" dirty="0">
                <a:solidFill>
                  <a:srgbClr val="FF0000"/>
                </a:solidFill>
              </a:rPr>
              <a:t>ALU inputs </a:t>
            </a:r>
            <a:r>
              <a:rPr lang="en-US" b="1" cap="none" dirty="0">
                <a:solidFill>
                  <a:schemeClr val="tx2"/>
                </a:solidFill>
              </a:rPr>
              <a:t>if these operands are available in the </a:t>
            </a:r>
            <a:r>
              <a:rPr lang="en-US" b="1" cap="none" dirty="0">
                <a:solidFill>
                  <a:srgbClr val="FF0000"/>
                </a:solidFill>
              </a:rPr>
              <a:t>EX/MEM register </a:t>
            </a:r>
            <a:r>
              <a:rPr lang="en-US" b="1" cap="none" dirty="0">
                <a:solidFill>
                  <a:schemeClr val="tx2"/>
                </a:solidFill>
              </a:rPr>
              <a:t>or at the </a:t>
            </a:r>
            <a:r>
              <a:rPr lang="en-US" b="1" cap="none" dirty="0">
                <a:solidFill>
                  <a:srgbClr val="FF0000"/>
                </a:solidFill>
              </a:rPr>
              <a:t>output of the MUX </a:t>
            </a:r>
            <a:r>
              <a:rPr lang="en-US" b="1" cap="none" dirty="0">
                <a:solidFill>
                  <a:schemeClr val="tx2"/>
                </a:solidFill>
              </a:rPr>
              <a:t>after the </a:t>
            </a:r>
            <a:r>
              <a:rPr lang="en-US" b="1" cap="none" dirty="0">
                <a:solidFill>
                  <a:srgbClr val="FF0000"/>
                </a:solidFill>
              </a:rPr>
              <a:t>MEM/WB register</a:t>
            </a:r>
          </a:p>
          <a:p>
            <a:r>
              <a:rPr lang="en-US" b="1" cap="none" dirty="0">
                <a:solidFill>
                  <a:schemeClr val="tx2"/>
                </a:solidFill>
              </a:rPr>
              <a:t>The forwarding unit should produce two outputs </a:t>
            </a:r>
            <a:r>
              <a:rPr lang="en-US" b="1" cap="none" dirty="0" err="1">
                <a:solidFill>
                  <a:schemeClr val="tx2"/>
                </a:solidFill>
              </a:rPr>
              <a:t>forwardA</a:t>
            </a:r>
            <a:r>
              <a:rPr lang="en-US" b="1" cap="none" dirty="0">
                <a:solidFill>
                  <a:schemeClr val="tx2"/>
                </a:solidFill>
              </a:rPr>
              <a:t> and </a:t>
            </a:r>
            <a:r>
              <a:rPr lang="en-US" b="1" cap="none" dirty="0" err="1">
                <a:solidFill>
                  <a:schemeClr val="tx2"/>
                </a:solidFill>
              </a:rPr>
              <a:t>forwardB</a:t>
            </a:r>
            <a:r>
              <a:rPr lang="en-US" b="1" cap="none" dirty="0">
                <a:solidFill>
                  <a:schemeClr val="tx2"/>
                </a:solidFill>
              </a:rPr>
              <a:t> according to the following conditions</a:t>
            </a:r>
          </a:p>
          <a:p>
            <a:endParaRPr lang="en-US" b="1" cap="non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557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F8A7C-935F-4F15-8B71-09CA07FD7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Experiment 1: forwarding unit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76248-7ABF-4858-BABC-FE815D29E85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EX hazard</a:t>
            </a:r>
            <a:endParaRPr lang="en-US" b="1" cap="none" dirty="0">
              <a:solidFill>
                <a:schemeClr val="tx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709F7A-08EE-46F1-A250-92E611D83143}"/>
              </a:ext>
            </a:extLst>
          </p:cNvPr>
          <p:cNvSpPr/>
          <p:nvPr/>
        </p:nvSpPr>
        <p:spPr>
          <a:xfrm>
            <a:off x="2537360" y="3030189"/>
            <a:ext cx="6499761" cy="2263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 (EX/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MEM.RegWrite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and (EX/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MEM.RegisterRd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≠ 0)</a:t>
            </a:r>
            <a:r>
              <a:rPr lang="en-US" sz="1400" dirty="0">
                <a:solidFill>
                  <a:srgbClr val="000000"/>
                </a:solidFill>
                <a:latin typeface="MS Mincho" panose="02020609040205080304" pitchFamily="49" charset="-128"/>
                <a:ea typeface="Calibri" panose="020F0502020204030204" pitchFamily="34" charset="0"/>
                <a:cs typeface="MS Mincho" panose="02020609040205080304" pitchFamily="49" charset="-128"/>
              </a:rPr>
              <a:t> 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		and (EX/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MEM.RegisterRd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= ID/EX.RegisterRs1))</a:t>
            </a:r>
            <a:r>
              <a:rPr lang="en-US" sz="1400" dirty="0">
                <a:solidFill>
                  <a:srgbClr val="000000"/>
                </a:solidFill>
                <a:latin typeface="MS Mincho" panose="02020609040205080304" pitchFamily="49" charset="-128"/>
                <a:ea typeface="Calibri" panose="020F0502020204030204" pitchFamily="34" charset="0"/>
                <a:cs typeface="MS Mincho" panose="02020609040205080304" pitchFamily="49" charset="-128"/>
              </a:rPr>
              <a:t> 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forwardA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= 10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 (EX/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MEM.RegWrite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and (EX/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MEM.RegisterRd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≠ 0)</a:t>
            </a:r>
            <a:r>
              <a:rPr lang="en-US" sz="1400" dirty="0">
                <a:solidFill>
                  <a:srgbClr val="000000"/>
                </a:solidFill>
                <a:latin typeface="MS Mincho" panose="02020609040205080304" pitchFamily="49" charset="-128"/>
                <a:ea typeface="Calibri" panose="020F0502020204030204" pitchFamily="34" charset="0"/>
                <a:cs typeface="MS Mincho" panose="02020609040205080304" pitchFamily="49" charset="-128"/>
              </a:rPr>
              <a:t> 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		 and (EX/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MEM.RegisterRd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= ID/EX.RegisterRs2))</a:t>
            </a:r>
            <a:r>
              <a:rPr lang="en-US" sz="1400" dirty="0">
                <a:solidFill>
                  <a:srgbClr val="000000"/>
                </a:solidFill>
                <a:latin typeface="MS Mincho" panose="02020609040205080304" pitchFamily="49" charset="-128"/>
                <a:ea typeface="Calibri" panose="020F0502020204030204" pitchFamily="34" charset="0"/>
                <a:cs typeface="MS Mincho" panose="02020609040205080304" pitchFamily="49" charset="-128"/>
              </a:rPr>
              <a:t> 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forwardB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= 10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755432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F8A7C-935F-4F15-8B71-09CA07FD7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Experiment 1: forwarding unit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76248-7ABF-4858-BABC-FE815D29E85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MEM hazard</a:t>
            </a:r>
            <a:endParaRPr lang="en-US" b="1" cap="none" dirty="0">
              <a:solidFill>
                <a:schemeClr val="tx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6986CD-456A-4F74-AA8B-0BE65CF85ED0}"/>
              </a:ext>
            </a:extLst>
          </p:cNvPr>
          <p:cNvSpPr/>
          <p:nvPr/>
        </p:nvSpPr>
        <p:spPr>
          <a:xfrm>
            <a:off x="2303813" y="2987175"/>
            <a:ext cx="6958940" cy="336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 (MEM/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WB.RegWrite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and (MEM/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WB.RegisterRd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≠ 0)</a:t>
            </a:r>
            <a:r>
              <a:rPr lang="en-US" sz="1200" dirty="0">
                <a:solidFill>
                  <a:srgbClr val="000000"/>
                </a:solidFill>
                <a:latin typeface="MS Mincho" panose="02020609040205080304" pitchFamily="49" charset="-128"/>
                <a:ea typeface="Calibri" panose="020F0502020204030204" pitchFamily="34" charset="0"/>
                <a:cs typeface="MS Mincho" panose="02020609040205080304" pitchFamily="49" charset="-128"/>
              </a:rPr>
              <a:t> 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	and (MEM/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WB.RegisterRd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= ID/EX.RegisterRs1)) 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		and not (EX/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MEM.RegWrite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and (EX/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MEM.RegisterRd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≠ 0)</a:t>
            </a:r>
            <a:r>
              <a:rPr lang="en-US" sz="1200" dirty="0">
                <a:solidFill>
                  <a:srgbClr val="000000"/>
                </a:solidFill>
                <a:latin typeface="MS Mincho" panose="02020609040205080304" pitchFamily="49" charset="-128"/>
                <a:ea typeface="Calibri" panose="020F0502020204030204" pitchFamily="34" charset="0"/>
                <a:cs typeface="MS Mincho" panose="02020609040205080304" pitchFamily="49" charset="-128"/>
              </a:rPr>
              <a:t> 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               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        		and (EX/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MEM.RegisterRd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= ID/EX.RegisterRs1))</a:t>
            </a:r>
            <a:r>
              <a:rPr lang="en-US" dirty="0">
                <a:solidFill>
                  <a:srgbClr val="000000"/>
                </a:solidFill>
                <a:latin typeface="MS Mincho" panose="02020609040205080304" pitchFamily="49" charset="-128"/>
                <a:ea typeface="Calibri" panose="020F0502020204030204" pitchFamily="34" charset="0"/>
                <a:cs typeface="MS Mincho" panose="02020609040205080304" pitchFamily="49" charset="-128"/>
              </a:rPr>
              <a:t> 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 </a:t>
            </a:r>
            <a:r>
              <a:rPr lang="en-US" dirty="0">
                <a:solidFill>
                  <a:srgbClr val="000000"/>
                </a:solidFill>
                <a:latin typeface="MS Mincho" panose="02020609040205080304" pitchFamily="49" charset="-128"/>
                <a:ea typeface="Calibri" panose="020F0502020204030204" pitchFamily="34" charset="0"/>
                <a:cs typeface="MS Mincho" panose="02020609040205080304" pitchFamily="49" charset="-128"/>
              </a:rPr>
              <a:t> 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	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forwardA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= 01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 (MEM/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WB.RegWrite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and (MEM/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WB.RegisterRd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≠ 0)</a:t>
            </a:r>
            <a:r>
              <a:rPr lang="en-US" sz="1200" dirty="0">
                <a:solidFill>
                  <a:srgbClr val="000000"/>
                </a:solidFill>
                <a:latin typeface="MS Mincho" panose="02020609040205080304" pitchFamily="49" charset="-128"/>
                <a:ea typeface="Calibri" panose="020F0502020204030204" pitchFamily="34" charset="0"/>
                <a:cs typeface="MS Mincho" panose="02020609040205080304" pitchFamily="49" charset="-128"/>
              </a:rPr>
              <a:t> 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	and (MEM/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WB.RegisterRd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= ID/EX.RegisterRs2))</a:t>
            </a:r>
            <a:r>
              <a:rPr lang="en-US" sz="1200" dirty="0">
                <a:solidFill>
                  <a:srgbClr val="000000"/>
                </a:solidFill>
                <a:latin typeface="MS Mincho" panose="02020609040205080304" pitchFamily="49" charset="-128"/>
                <a:ea typeface="Calibri" panose="020F0502020204030204" pitchFamily="34" charset="0"/>
                <a:cs typeface="MS Mincho" panose="02020609040205080304" pitchFamily="49" charset="-128"/>
              </a:rPr>
              <a:t> 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		and not (EX/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MEM.RegWrite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and (EX/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MEM.RegisterRd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≠ 0)</a:t>
            </a:r>
            <a:r>
              <a:rPr lang="en-US" sz="1200" dirty="0">
                <a:solidFill>
                  <a:srgbClr val="000000"/>
                </a:solidFill>
                <a:latin typeface="MS Mincho" panose="02020609040205080304" pitchFamily="49" charset="-128"/>
                <a:ea typeface="Calibri" panose="020F0502020204030204" pitchFamily="34" charset="0"/>
                <a:cs typeface="MS Mincho" panose="02020609040205080304" pitchFamily="49" charset="-128"/>
              </a:rPr>
              <a:t> 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            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        		and (EX/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MEM.RegisterRd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= ID/EX.RegisterRs2))</a:t>
            </a:r>
            <a:r>
              <a:rPr lang="en-US" sz="1200" dirty="0">
                <a:solidFill>
                  <a:srgbClr val="000000"/>
                </a:solidFill>
                <a:latin typeface="MS Mincho" panose="02020609040205080304" pitchFamily="49" charset="-128"/>
                <a:ea typeface="Calibri" panose="020F0502020204030204" pitchFamily="34" charset="0"/>
                <a:cs typeface="MS Mincho" panose="02020609040205080304" pitchFamily="49" charset="-128"/>
              </a:rPr>
              <a:t> 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	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forwardB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= 01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55695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F8A7C-935F-4F15-8B71-09CA07FD7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Experiment 2: hazard detection unit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76248-7ABF-4858-BABC-FE815D29E85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 cap="none" dirty="0">
                <a:solidFill>
                  <a:schemeClr val="tx2"/>
                </a:solidFill>
              </a:rPr>
              <a:t>Accordingly, the hazard detection 						           has one output: </a:t>
            </a:r>
          </a:p>
          <a:p>
            <a:pPr lvl="1"/>
            <a:r>
              <a:rPr lang="en-US" b="1" cap="none" dirty="0">
                <a:solidFill>
                  <a:schemeClr val="tx2"/>
                </a:solidFill>
              </a:rPr>
              <a:t>stall </a:t>
            </a:r>
          </a:p>
          <a:p>
            <a:r>
              <a:rPr lang="en-US" b="1" cap="none" dirty="0">
                <a:solidFill>
                  <a:schemeClr val="tx2"/>
                </a:solidFill>
              </a:rPr>
              <a:t>4 inputs: </a:t>
            </a:r>
          </a:p>
          <a:p>
            <a:pPr lvl="1"/>
            <a:r>
              <a:rPr lang="en-US" b="1" cap="none" dirty="0">
                <a:solidFill>
                  <a:schemeClr val="tx2"/>
                </a:solidFill>
              </a:rPr>
              <a:t>IF/ID.RegisterRs1 </a:t>
            </a:r>
          </a:p>
          <a:p>
            <a:pPr lvl="1"/>
            <a:r>
              <a:rPr lang="en-US" b="1" cap="none" dirty="0">
                <a:solidFill>
                  <a:schemeClr val="tx2"/>
                </a:solidFill>
              </a:rPr>
              <a:t>IF/ID.RegisterRs2</a:t>
            </a:r>
          </a:p>
          <a:p>
            <a:pPr lvl="1"/>
            <a:r>
              <a:rPr lang="en-US" b="1" cap="none" dirty="0">
                <a:solidFill>
                  <a:schemeClr val="tx2"/>
                </a:solidFill>
              </a:rPr>
              <a:t>ID/</a:t>
            </a:r>
            <a:r>
              <a:rPr lang="en-US" b="1" cap="none" dirty="0" err="1">
                <a:solidFill>
                  <a:schemeClr val="tx2"/>
                </a:solidFill>
              </a:rPr>
              <a:t>EX.RegisterRd</a:t>
            </a:r>
            <a:endParaRPr lang="en-US" b="1" cap="none" dirty="0">
              <a:solidFill>
                <a:schemeClr val="tx2"/>
              </a:solidFill>
            </a:endParaRPr>
          </a:p>
          <a:p>
            <a:pPr lvl="1"/>
            <a:r>
              <a:rPr lang="en-US" b="1" cap="none" dirty="0">
                <a:solidFill>
                  <a:schemeClr val="tx2"/>
                </a:solidFill>
              </a:rPr>
              <a:t>ID/</a:t>
            </a:r>
            <a:r>
              <a:rPr lang="en-US" b="1" cap="none" dirty="0" err="1">
                <a:solidFill>
                  <a:schemeClr val="tx2"/>
                </a:solidFill>
              </a:rPr>
              <a:t>EX.MemRead</a:t>
            </a:r>
            <a:endParaRPr lang="en-US" sz="2300" b="1" cap="none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206630-7A21-4E1F-B2F3-37B05FF81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881" y="1826572"/>
            <a:ext cx="7172448" cy="4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367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F8A7C-935F-4F15-8B71-09CA07FD7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Experiment 2: hazard detection unit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76248-7ABF-4858-BABC-FE815D29E85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 cap="none" dirty="0">
                <a:solidFill>
                  <a:schemeClr val="tx2"/>
                </a:solidFill>
              </a:rPr>
              <a:t>The hazard detection unit is responsible for stalling the </a:t>
            </a:r>
            <a:r>
              <a:rPr lang="en-US" b="1" cap="none" dirty="0" err="1">
                <a:solidFill>
                  <a:schemeClr val="tx2"/>
                </a:solidFill>
              </a:rPr>
              <a:t>datapath</a:t>
            </a:r>
            <a:r>
              <a:rPr lang="en-US" b="1" cap="none" dirty="0">
                <a:solidFill>
                  <a:schemeClr val="tx2"/>
                </a:solidFill>
              </a:rPr>
              <a:t> for one clock cycle in case of a load-use hazard. </a:t>
            </a:r>
          </a:p>
          <a:p>
            <a:r>
              <a:rPr lang="en-US" b="1" cap="none" dirty="0">
                <a:solidFill>
                  <a:schemeClr val="tx2"/>
                </a:solidFill>
              </a:rPr>
              <a:t>This detection is possible during the decoding of the using instruction according to the following condition</a:t>
            </a:r>
            <a:endParaRPr lang="en-US" sz="2500" b="1" cap="none" dirty="0">
              <a:solidFill>
                <a:schemeClr val="tx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C6A48C-32B0-4FB2-BB28-F50D6F2C9F51}"/>
              </a:ext>
            </a:extLst>
          </p:cNvPr>
          <p:cNvSpPr/>
          <p:nvPr/>
        </p:nvSpPr>
        <p:spPr>
          <a:xfrm>
            <a:off x="2667989" y="4224757"/>
            <a:ext cx="6096000" cy="207800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 ((IF/ID.RegisterRs1=ID/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EX.RegisterRd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 OR (IF/ID.RegisterRs2=ID/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EX.RegisterRd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)) 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	and ID/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EX.MemRead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	and ID/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EX.RegisterRd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≠ 0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stall =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181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F8A7C-935F-4F15-8B71-09CA07FD7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Experiment 2: hazard detection unit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76248-7ABF-4858-BABC-FE815D29E85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 cap="none" dirty="0">
                <a:solidFill>
                  <a:schemeClr val="tx2"/>
                </a:solidFill>
              </a:rPr>
              <a:t>The stall output should be used to control </a:t>
            </a:r>
          </a:p>
          <a:p>
            <a:pPr lvl="1"/>
            <a:r>
              <a:rPr lang="en-US" b="1" cap="none" dirty="0">
                <a:solidFill>
                  <a:schemeClr val="tx2"/>
                </a:solidFill>
              </a:rPr>
              <a:t>the load of the PC and IF/ID registers                                                                                     (preventing them from loading when                                                                                               stall = 1) </a:t>
            </a:r>
          </a:p>
          <a:p>
            <a:pPr lvl="1"/>
            <a:r>
              <a:rPr lang="en-US" b="1" cap="none" dirty="0">
                <a:solidFill>
                  <a:schemeClr val="tx2"/>
                </a:solidFill>
              </a:rPr>
              <a:t>control the selection line of a newly                                                                                            added 2x1 multiplexer providing the                                                                                           control values to be stored in the ID/EX                                                                                                   register in such a way that when                                                                                                         stall = 1, zeros are stored instead of                                                                                                 all the control values</a:t>
            </a:r>
            <a:endParaRPr lang="en-US" sz="2100" b="1" cap="none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206630-7A21-4E1F-B2F3-37B05FF81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028" y="1779073"/>
            <a:ext cx="6503721" cy="4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216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F8A7C-935F-4F15-8B71-09CA07FD7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Experiment 3: instructions flushing 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76248-7ABF-4858-BABC-FE815D29E85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 cap="none" dirty="0">
                <a:solidFill>
                  <a:schemeClr val="tx2"/>
                </a:solidFill>
              </a:rPr>
              <a:t>When a BEQ instruction is encountered according to the current </a:t>
            </a:r>
            <a:r>
              <a:rPr lang="en-US" b="1" cap="none" dirty="0" err="1">
                <a:solidFill>
                  <a:schemeClr val="tx2"/>
                </a:solidFill>
              </a:rPr>
              <a:t>datapath</a:t>
            </a:r>
            <a:r>
              <a:rPr lang="en-US" b="1" cap="none" dirty="0">
                <a:solidFill>
                  <a:schemeClr val="tx2"/>
                </a:solidFill>
              </a:rPr>
              <a:t> nothing happens until it reaches the MEM stage in which the branch outcome is decided.</a:t>
            </a:r>
          </a:p>
          <a:p>
            <a:r>
              <a:rPr lang="en-US" b="1" cap="none" dirty="0">
                <a:solidFill>
                  <a:schemeClr val="tx2"/>
                </a:solidFill>
              </a:rPr>
              <a:t>Meanwhile the 3 instructions following the BEQ instruction were introduced in the pipeline. </a:t>
            </a:r>
          </a:p>
          <a:p>
            <a:r>
              <a:rPr lang="en-US" b="1" cap="none" dirty="0">
                <a:solidFill>
                  <a:schemeClr val="tx2"/>
                </a:solidFill>
              </a:rPr>
              <a:t>In case the branch outcome is not to take the branch, nothing needs to be done and execution continues normally; </a:t>
            </a:r>
          </a:p>
          <a:p>
            <a:r>
              <a:rPr lang="en-US" b="1" cap="none" dirty="0">
                <a:solidFill>
                  <a:schemeClr val="tx2"/>
                </a:solidFill>
              </a:rPr>
              <a:t>however, if the branch outcome is to take the branch, the </a:t>
            </a:r>
            <a:r>
              <a:rPr lang="en-US" b="1" cap="none" dirty="0" err="1">
                <a:solidFill>
                  <a:schemeClr val="tx2"/>
                </a:solidFill>
              </a:rPr>
              <a:t>PCSrc</a:t>
            </a:r>
            <a:r>
              <a:rPr lang="en-US" b="1" cap="none" dirty="0">
                <a:solidFill>
                  <a:schemeClr val="tx2"/>
                </a:solidFill>
              </a:rPr>
              <a:t> control signal is set to 1 forcing the PC to start fetching instructions from the BEQ target address. </a:t>
            </a:r>
          </a:p>
        </p:txBody>
      </p:sp>
    </p:spTree>
    <p:extLst>
      <p:ext uri="{BB962C8B-B14F-4D97-AF65-F5344CB8AC3E}">
        <p14:creationId xmlns:p14="http://schemas.microsoft.com/office/powerpoint/2010/main" val="1516627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F8A7C-935F-4F15-8B71-09CA07FD7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Experiment 3: instructions flushing 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76248-7ABF-4858-BABC-FE815D29E85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 cap="none" dirty="0">
                <a:solidFill>
                  <a:schemeClr val="tx2"/>
                </a:solidFill>
              </a:rPr>
              <a:t>This is the correct behavior (assuming an always-not-taken static branch predictor) </a:t>
            </a:r>
          </a:p>
          <a:p>
            <a:r>
              <a:rPr lang="en-US" b="1" cap="none" dirty="0">
                <a:solidFill>
                  <a:schemeClr val="tx2"/>
                </a:solidFill>
              </a:rPr>
              <a:t>except that in case the branch is to be taken, the 3 instructions following the BEQ have to be flushed from the pipeline. </a:t>
            </a:r>
          </a:p>
          <a:p>
            <a:r>
              <a:rPr lang="en-US" b="1" cap="none" dirty="0">
                <a:solidFill>
                  <a:schemeClr val="tx2"/>
                </a:solidFill>
              </a:rPr>
              <a:t>No special flushing detection unit needs to be implemented, since the </a:t>
            </a:r>
            <a:r>
              <a:rPr lang="en-US" b="1" cap="none" dirty="0" err="1">
                <a:solidFill>
                  <a:schemeClr val="tx2"/>
                </a:solidFill>
              </a:rPr>
              <a:t>PCSrc</a:t>
            </a:r>
            <a:r>
              <a:rPr lang="en-US" b="1" cap="none" dirty="0">
                <a:solidFill>
                  <a:schemeClr val="tx2"/>
                </a:solidFill>
              </a:rPr>
              <a:t> signal serves as a flag that we need to flush all 3 instructions. </a:t>
            </a:r>
          </a:p>
        </p:txBody>
      </p:sp>
    </p:spTree>
    <p:extLst>
      <p:ext uri="{BB962C8B-B14F-4D97-AF65-F5344CB8AC3E}">
        <p14:creationId xmlns:p14="http://schemas.microsoft.com/office/powerpoint/2010/main" val="3713270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F8A7C-935F-4F15-8B71-09CA07FD7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Experiment 3: instructions flushing 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76248-7ABF-4858-BABC-FE815D29E85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4247464"/>
          </a:xfrm>
        </p:spPr>
        <p:txBody>
          <a:bodyPr>
            <a:normAutofit/>
          </a:bodyPr>
          <a:lstStyle/>
          <a:p>
            <a:r>
              <a:rPr lang="en-US" sz="1800" b="1" cap="none" dirty="0">
                <a:solidFill>
                  <a:schemeClr val="tx2"/>
                </a:solidFill>
              </a:rPr>
              <a:t>So when </a:t>
            </a:r>
            <a:r>
              <a:rPr lang="en-US" sz="1800" b="1" cap="none" dirty="0" err="1">
                <a:solidFill>
                  <a:schemeClr val="tx2"/>
                </a:solidFill>
              </a:rPr>
              <a:t>PCSrc</a:t>
            </a:r>
            <a:r>
              <a:rPr lang="en-US" sz="1800" b="1" cap="none" dirty="0">
                <a:solidFill>
                  <a:schemeClr val="tx2"/>
                </a:solidFill>
              </a:rPr>
              <a:t>=1, we need to flush:</a:t>
            </a:r>
          </a:p>
          <a:p>
            <a:pPr lvl="1"/>
            <a:r>
              <a:rPr lang="en-US" sz="1600" b="1" cap="none" dirty="0">
                <a:solidFill>
                  <a:schemeClr val="tx2"/>
                </a:solidFill>
              </a:rPr>
              <a:t>Fetch Stage</a:t>
            </a:r>
          </a:p>
          <a:p>
            <a:pPr lvl="1"/>
            <a:r>
              <a:rPr lang="en-US" sz="1600" b="1" cap="none" dirty="0">
                <a:solidFill>
                  <a:schemeClr val="tx2"/>
                </a:solidFill>
              </a:rPr>
              <a:t>Decode Stage</a:t>
            </a:r>
          </a:p>
          <a:p>
            <a:pPr lvl="1"/>
            <a:r>
              <a:rPr lang="en-US" sz="1600" b="1" cap="none" dirty="0">
                <a:solidFill>
                  <a:schemeClr val="tx2"/>
                </a:solidFill>
              </a:rPr>
              <a:t>Execution Stage</a:t>
            </a:r>
            <a:endParaRPr lang="en-US" b="1" cap="none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E031AF-C128-46E1-BC04-F148DF4D3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514" y="1790948"/>
            <a:ext cx="6503721" cy="4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19705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815</TotalTime>
  <Words>851</Words>
  <Application>Microsoft Office PowerPoint</Application>
  <PresentationFormat>Widescreen</PresentationFormat>
  <Paragraphs>81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MS Mincho</vt:lpstr>
      <vt:lpstr>Calibri</vt:lpstr>
      <vt:lpstr>Calibri Light</vt:lpstr>
      <vt:lpstr>Courier New</vt:lpstr>
      <vt:lpstr>Times New Roman</vt:lpstr>
      <vt:lpstr>Retrospect</vt:lpstr>
      <vt:lpstr>Lab 8 Pipelined Implementation of RISC-V  Hazard Handling</vt:lpstr>
      <vt:lpstr>Objectives</vt:lpstr>
      <vt:lpstr>Agenda</vt:lpstr>
      <vt:lpstr>Introduction</vt:lpstr>
      <vt:lpstr>Experiment 1: forwarding unit</vt:lpstr>
      <vt:lpstr>Experiment 1: forwarding unit</vt:lpstr>
      <vt:lpstr>Experiment 1: forwarding unit</vt:lpstr>
      <vt:lpstr>Experiment 1: forwarding unit</vt:lpstr>
      <vt:lpstr>Experiment 2: hazard detection unit</vt:lpstr>
      <vt:lpstr>Experiment 2: hazard detection unit</vt:lpstr>
      <vt:lpstr>Experiment 2: hazard detection unit</vt:lpstr>
      <vt:lpstr>Experiment 3: instructions flushing </vt:lpstr>
      <vt:lpstr>Experiment 3: instructions flushing </vt:lpstr>
      <vt:lpstr>Experiment 3: instructions flushing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8 Pipelined Implementation of RISC-V  Hazard Handling</dc:title>
  <dc:creator>mostafa mahmoud</dc:creator>
  <cp:lastModifiedBy>Mostafa   Abdel Aziz</cp:lastModifiedBy>
  <cp:revision>25</cp:revision>
  <dcterms:created xsi:type="dcterms:W3CDTF">2020-04-06T15:37:24Z</dcterms:created>
  <dcterms:modified xsi:type="dcterms:W3CDTF">2025-11-18T06:18:48Z</dcterms:modified>
</cp:coreProperties>
</file>